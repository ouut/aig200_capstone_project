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924DEE-549A-400E-8F45-DD5CBE83EF7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2B616D-AE6B-41AD-A052-1B28EC148991}">
      <dgm:prSet/>
      <dgm:spPr/>
      <dgm:t>
        <a:bodyPr/>
        <a:lstStyle/>
        <a:p>
          <a:r>
            <a:rPr lang="en-US"/>
            <a:t>End-to-end ML lifecycle on AWS</a:t>
          </a:r>
        </a:p>
      </dgm:t>
    </dgm:pt>
    <dgm:pt modelId="{D9BF6D0E-4E80-434E-B60B-A951D20A01AA}" type="parTrans" cxnId="{A444F3BC-AEE6-4E14-B135-FCA030E1228F}">
      <dgm:prSet/>
      <dgm:spPr/>
      <dgm:t>
        <a:bodyPr/>
        <a:lstStyle/>
        <a:p>
          <a:endParaRPr lang="en-US"/>
        </a:p>
      </dgm:t>
    </dgm:pt>
    <dgm:pt modelId="{6FF2AD1A-2E5A-43B7-B520-A5F0E8617B78}" type="sibTrans" cxnId="{A444F3BC-AEE6-4E14-B135-FCA030E1228F}">
      <dgm:prSet/>
      <dgm:spPr/>
      <dgm:t>
        <a:bodyPr/>
        <a:lstStyle/>
        <a:p>
          <a:endParaRPr lang="en-US"/>
        </a:p>
      </dgm:t>
    </dgm:pt>
    <dgm:pt modelId="{C8C68276-4F54-4409-A816-125E9BEF4277}">
      <dgm:prSet/>
      <dgm:spPr/>
      <dgm:t>
        <a:bodyPr/>
        <a:lstStyle/>
        <a:p>
          <a:r>
            <a:rPr lang="en-US"/>
            <a:t>Data → Processing → Training → Deployment → Monitoring</a:t>
          </a:r>
        </a:p>
      </dgm:t>
    </dgm:pt>
    <dgm:pt modelId="{D0D03E9A-2AAD-4BC1-8870-1D097137EBA0}" type="parTrans" cxnId="{99F81D00-51A1-447E-92D5-96B8AC430A20}">
      <dgm:prSet/>
      <dgm:spPr/>
      <dgm:t>
        <a:bodyPr/>
        <a:lstStyle/>
        <a:p>
          <a:endParaRPr lang="en-US"/>
        </a:p>
      </dgm:t>
    </dgm:pt>
    <dgm:pt modelId="{AA942AEE-645E-40CD-AD1C-FF76888EFFF3}" type="sibTrans" cxnId="{99F81D00-51A1-447E-92D5-96B8AC430A20}">
      <dgm:prSet/>
      <dgm:spPr/>
      <dgm:t>
        <a:bodyPr/>
        <a:lstStyle/>
        <a:p>
          <a:endParaRPr lang="en-US"/>
        </a:p>
      </dgm:t>
    </dgm:pt>
    <dgm:pt modelId="{CCB9475C-41A6-478A-8ABF-31E9B038BEF7}">
      <dgm:prSet/>
      <dgm:spPr/>
      <dgm:t>
        <a:bodyPr/>
        <a:lstStyle/>
        <a:p>
          <a:r>
            <a:rPr lang="en-US"/>
            <a:t>Automated using SageMaker Pipelines</a:t>
          </a:r>
        </a:p>
      </dgm:t>
    </dgm:pt>
    <dgm:pt modelId="{B16968FD-58C2-41EB-A000-17B6765BE85E}" type="parTrans" cxnId="{7C7AD8CE-3AC2-4731-94AD-890EC3C733A3}">
      <dgm:prSet/>
      <dgm:spPr/>
      <dgm:t>
        <a:bodyPr/>
        <a:lstStyle/>
        <a:p>
          <a:endParaRPr lang="en-US"/>
        </a:p>
      </dgm:t>
    </dgm:pt>
    <dgm:pt modelId="{6A5C7CE1-483C-4118-A4F2-F8279AA8F9E4}" type="sibTrans" cxnId="{7C7AD8CE-3AC2-4731-94AD-890EC3C733A3}">
      <dgm:prSet/>
      <dgm:spPr/>
      <dgm:t>
        <a:bodyPr/>
        <a:lstStyle/>
        <a:p>
          <a:endParaRPr lang="en-US"/>
        </a:p>
      </dgm:t>
    </dgm:pt>
    <dgm:pt modelId="{D750AEB8-E2E5-4D03-9622-38E8F5975C51}">
      <dgm:prSet/>
      <dgm:spPr/>
      <dgm:t>
        <a:bodyPr/>
        <a:lstStyle/>
        <a:p>
          <a:r>
            <a:rPr lang="en-US"/>
            <a:t>Integration with S3, Lambda, CloudWatch</a:t>
          </a:r>
        </a:p>
      </dgm:t>
    </dgm:pt>
    <dgm:pt modelId="{10703393-C453-4CF6-8864-CDD383D7AE35}" type="parTrans" cxnId="{C7843EA9-7139-4205-8461-FA1C351C2FAA}">
      <dgm:prSet/>
      <dgm:spPr/>
      <dgm:t>
        <a:bodyPr/>
        <a:lstStyle/>
        <a:p>
          <a:endParaRPr lang="en-US"/>
        </a:p>
      </dgm:t>
    </dgm:pt>
    <dgm:pt modelId="{11909451-3345-4B22-92C6-C7B0C30ED04E}" type="sibTrans" cxnId="{C7843EA9-7139-4205-8461-FA1C351C2FAA}">
      <dgm:prSet/>
      <dgm:spPr/>
      <dgm:t>
        <a:bodyPr/>
        <a:lstStyle/>
        <a:p>
          <a:endParaRPr lang="en-US"/>
        </a:p>
      </dgm:t>
    </dgm:pt>
    <dgm:pt modelId="{46EB3749-CDE6-4F3C-8BDD-DB9C75195A56}" type="pres">
      <dgm:prSet presAssocID="{4F924DEE-549A-400E-8F45-DD5CBE83EF70}" presName="outerComposite" presStyleCnt="0">
        <dgm:presLayoutVars>
          <dgm:chMax val="5"/>
          <dgm:dir/>
          <dgm:resizeHandles val="exact"/>
        </dgm:presLayoutVars>
      </dgm:prSet>
      <dgm:spPr/>
    </dgm:pt>
    <dgm:pt modelId="{0540A2FC-27B7-4C3C-B22F-A7BA00324777}" type="pres">
      <dgm:prSet presAssocID="{4F924DEE-549A-400E-8F45-DD5CBE83EF70}" presName="dummyMaxCanvas" presStyleCnt="0">
        <dgm:presLayoutVars/>
      </dgm:prSet>
      <dgm:spPr/>
    </dgm:pt>
    <dgm:pt modelId="{F4C714C5-A7D6-488A-BAC9-BE0BC0C12295}" type="pres">
      <dgm:prSet presAssocID="{4F924DEE-549A-400E-8F45-DD5CBE83EF70}" presName="FourNodes_1" presStyleLbl="node1" presStyleIdx="0" presStyleCnt="4">
        <dgm:presLayoutVars>
          <dgm:bulletEnabled val="1"/>
        </dgm:presLayoutVars>
      </dgm:prSet>
      <dgm:spPr/>
    </dgm:pt>
    <dgm:pt modelId="{773EFCF3-F8AB-4A60-B7D8-16A3BB53CF02}" type="pres">
      <dgm:prSet presAssocID="{4F924DEE-549A-400E-8F45-DD5CBE83EF70}" presName="FourNodes_2" presStyleLbl="node1" presStyleIdx="1" presStyleCnt="4">
        <dgm:presLayoutVars>
          <dgm:bulletEnabled val="1"/>
        </dgm:presLayoutVars>
      </dgm:prSet>
      <dgm:spPr/>
    </dgm:pt>
    <dgm:pt modelId="{CF32A33E-9AEF-4EB2-BDF9-5C187FD317A6}" type="pres">
      <dgm:prSet presAssocID="{4F924DEE-549A-400E-8F45-DD5CBE83EF70}" presName="FourNodes_3" presStyleLbl="node1" presStyleIdx="2" presStyleCnt="4">
        <dgm:presLayoutVars>
          <dgm:bulletEnabled val="1"/>
        </dgm:presLayoutVars>
      </dgm:prSet>
      <dgm:spPr/>
    </dgm:pt>
    <dgm:pt modelId="{0B7E0116-4FE3-4812-ACD2-11C08E6745E2}" type="pres">
      <dgm:prSet presAssocID="{4F924DEE-549A-400E-8F45-DD5CBE83EF70}" presName="FourNodes_4" presStyleLbl="node1" presStyleIdx="3" presStyleCnt="4">
        <dgm:presLayoutVars>
          <dgm:bulletEnabled val="1"/>
        </dgm:presLayoutVars>
      </dgm:prSet>
      <dgm:spPr/>
    </dgm:pt>
    <dgm:pt modelId="{EA07E69D-CC10-41D4-AD19-F27A62D9B41B}" type="pres">
      <dgm:prSet presAssocID="{4F924DEE-549A-400E-8F45-DD5CBE83EF70}" presName="FourConn_1-2" presStyleLbl="fgAccFollowNode1" presStyleIdx="0" presStyleCnt="3">
        <dgm:presLayoutVars>
          <dgm:bulletEnabled val="1"/>
        </dgm:presLayoutVars>
      </dgm:prSet>
      <dgm:spPr/>
    </dgm:pt>
    <dgm:pt modelId="{99A19E6E-E66B-41F0-B580-D25122AEC51E}" type="pres">
      <dgm:prSet presAssocID="{4F924DEE-549A-400E-8F45-DD5CBE83EF70}" presName="FourConn_2-3" presStyleLbl="fgAccFollowNode1" presStyleIdx="1" presStyleCnt="3">
        <dgm:presLayoutVars>
          <dgm:bulletEnabled val="1"/>
        </dgm:presLayoutVars>
      </dgm:prSet>
      <dgm:spPr/>
    </dgm:pt>
    <dgm:pt modelId="{7D226A97-AA05-4554-AED8-78C2B6FCDD94}" type="pres">
      <dgm:prSet presAssocID="{4F924DEE-549A-400E-8F45-DD5CBE83EF70}" presName="FourConn_3-4" presStyleLbl="fgAccFollowNode1" presStyleIdx="2" presStyleCnt="3">
        <dgm:presLayoutVars>
          <dgm:bulletEnabled val="1"/>
        </dgm:presLayoutVars>
      </dgm:prSet>
      <dgm:spPr/>
    </dgm:pt>
    <dgm:pt modelId="{9AB547D9-B3BD-4FA0-85ED-79D946C25045}" type="pres">
      <dgm:prSet presAssocID="{4F924DEE-549A-400E-8F45-DD5CBE83EF70}" presName="FourNodes_1_text" presStyleLbl="node1" presStyleIdx="3" presStyleCnt="4">
        <dgm:presLayoutVars>
          <dgm:bulletEnabled val="1"/>
        </dgm:presLayoutVars>
      </dgm:prSet>
      <dgm:spPr/>
    </dgm:pt>
    <dgm:pt modelId="{B4414EF1-3894-405A-AF93-1FA47D04C3DD}" type="pres">
      <dgm:prSet presAssocID="{4F924DEE-549A-400E-8F45-DD5CBE83EF70}" presName="FourNodes_2_text" presStyleLbl="node1" presStyleIdx="3" presStyleCnt="4">
        <dgm:presLayoutVars>
          <dgm:bulletEnabled val="1"/>
        </dgm:presLayoutVars>
      </dgm:prSet>
      <dgm:spPr/>
    </dgm:pt>
    <dgm:pt modelId="{BAF62C25-A93A-4764-A991-1E84647A3237}" type="pres">
      <dgm:prSet presAssocID="{4F924DEE-549A-400E-8F45-DD5CBE83EF70}" presName="FourNodes_3_text" presStyleLbl="node1" presStyleIdx="3" presStyleCnt="4">
        <dgm:presLayoutVars>
          <dgm:bulletEnabled val="1"/>
        </dgm:presLayoutVars>
      </dgm:prSet>
      <dgm:spPr/>
    </dgm:pt>
    <dgm:pt modelId="{E0B8307F-06A8-43BE-8037-CABA098FD5DB}" type="pres">
      <dgm:prSet presAssocID="{4F924DEE-549A-400E-8F45-DD5CBE83EF7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9F81D00-51A1-447E-92D5-96B8AC430A20}" srcId="{4F924DEE-549A-400E-8F45-DD5CBE83EF70}" destId="{C8C68276-4F54-4409-A816-125E9BEF4277}" srcOrd="1" destOrd="0" parTransId="{D0D03E9A-2AAD-4BC1-8870-1D097137EBA0}" sibTransId="{AA942AEE-645E-40CD-AD1C-FF76888EFFF3}"/>
    <dgm:cxn modelId="{1A4F2A10-A508-413F-A27C-7251E9B3EA79}" type="presOf" srcId="{D750AEB8-E2E5-4D03-9622-38E8F5975C51}" destId="{0B7E0116-4FE3-4812-ACD2-11C08E6745E2}" srcOrd="0" destOrd="0" presId="urn:microsoft.com/office/officeart/2005/8/layout/vProcess5"/>
    <dgm:cxn modelId="{61752B15-3615-49D0-BEBA-A77833740254}" type="presOf" srcId="{C8C68276-4F54-4409-A816-125E9BEF4277}" destId="{773EFCF3-F8AB-4A60-B7D8-16A3BB53CF02}" srcOrd="0" destOrd="0" presId="urn:microsoft.com/office/officeart/2005/8/layout/vProcess5"/>
    <dgm:cxn modelId="{8C5F751D-A353-4566-98F1-1326625560AE}" type="presOf" srcId="{4F924DEE-549A-400E-8F45-DD5CBE83EF70}" destId="{46EB3749-CDE6-4F3C-8BDD-DB9C75195A56}" srcOrd="0" destOrd="0" presId="urn:microsoft.com/office/officeart/2005/8/layout/vProcess5"/>
    <dgm:cxn modelId="{2A189B55-4746-4F8E-9324-BFAC7A84996D}" type="presOf" srcId="{E52B616D-AE6B-41AD-A052-1B28EC148991}" destId="{9AB547D9-B3BD-4FA0-85ED-79D946C25045}" srcOrd="1" destOrd="0" presId="urn:microsoft.com/office/officeart/2005/8/layout/vProcess5"/>
    <dgm:cxn modelId="{1EBD1887-67C9-4CF6-AFF1-7A0451BE3C93}" type="presOf" srcId="{D750AEB8-E2E5-4D03-9622-38E8F5975C51}" destId="{E0B8307F-06A8-43BE-8037-CABA098FD5DB}" srcOrd="1" destOrd="0" presId="urn:microsoft.com/office/officeart/2005/8/layout/vProcess5"/>
    <dgm:cxn modelId="{C2DEA69E-5A3A-4D4B-9E01-1A5E0B7C81A4}" type="presOf" srcId="{C8C68276-4F54-4409-A816-125E9BEF4277}" destId="{B4414EF1-3894-405A-AF93-1FA47D04C3DD}" srcOrd="1" destOrd="0" presId="urn:microsoft.com/office/officeart/2005/8/layout/vProcess5"/>
    <dgm:cxn modelId="{C7843EA9-7139-4205-8461-FA1C351C2FAA}" srcId="{4F924DEE-549A-400E-8F45-DD5CBE83EF70}" destId="{D750AEB8-E2E5-4D03-9622-38E8F5975C51}" srcOrd="3" destOrd="0" parTransId="{10703393-C453-4CF6-8864-CDD383D7AE35}" sibTransId="{11909451-3345-4B22-92C6-C7B0C30ED04E}"/>
    <dgm:cxn modelId="{A444F3BC-AEE6-4E14-B135-FCA030E1228F}" srcId="{4F924DEE-549A-400E-8F45-DD5CBE83EF70}" destId="{E52B616D-AE6B-41AD-A052-1B28EC148991}" srcOrd="0" destOrd="0" parTransId="{D9BF6D0E-4E80-434E-B60B-A951D20A01AA}" sibTransId="{6FF2AD1A-2E5A-43B7-B520-A5F0E8617B78}"/>
    <dgm:cxn modelId="{C65164CD-9ACD-4E09-890C-81AD2DF503DC}" type="presOf" srcId="{AA942AEE-645E-40CD-AD1C-FF76888EFFF3}" destId="{99A19E6E-E66B-41F0-B580-D25122AEC51E}" srcOrd="0" destOrd="0" presId="urn:microsoft.com/office/officeart/2005/8/layout/vProcess5"/>
    <dgm:cxn modelId="{7C7AD8CE-3AC2-4731-94AD-890EC3C733A3}" srcId="{4F924DEE-549A-400E-8F45-DD5CBE83EF70}" destId="{CCB9475C-41A6-478A-8ABF-31E9B038BEF7}" srcOrd="2" destOrd="0" parTransId="{B16968FD-58C2-41EB-A000-17B6765BE85E}" sibTransId="{6A5C7CE1-483C-4118-A4F2-F8279AA8F9E4}"/>
    <dgm:cxn modelId="{F404C5D1-CE46-4E5A-8AC8-4C63B99A6DF7}" type="presOf" srcId="{CCB9475C-41A6-478A-8ABF-31E9B038BEF7}" destId="{BAF62C25-A93A-4764-A991-1E84647A3237}" srcOrd="1" destOrd="0" presId="urn:microsoft.com/office/officeart/2005/8/layout/vProcess5"/>
    <dgm:cxn modelId="{D240B8D4-65E9-4877-B407-13CB5CCD4853}" type="presOf" srcId="{CCB9475C-41A6-478A-8ABF-31E9B038BEF7}" destId="{CF32A33E-9AEF-4EB2-BDF9-5C187FD317A6}" srcOrd="0" destOrd="0" presId="urn:microsoft.com/office/officeart/2005/8/layout/vProcess5"/>
    <dgm:cxn modelId="{1B9483E4-ACC9-4930-B5FE-54F3B1D89B6D}" type="presOf" srcId="{6A5C7CE1-483C-4118-A4F2-F8279AA8F9E4}" destId="{7D226A97-AA05-4554-AED8-78C2B6FCDD94}" srcOrd="0" destOrd="0" presId="urn:microsoft.com/office/officeart/2005/8/layout/vProcess5"/>
    <dgm:cxn modelId="{208C65E8-6CD8-480C-AD66-0A1B550D82BA}" type="presOf" srcId="{6FF2AD1A-2E5A-43B7-B520-A5F0E8617B78}" destId="{EA07E69D-CC10-41D4-AD19-F27A62D9B41B}" srcOrd="0" destOrd="0" presId="urn:microsoft.com/office/officeart/2005/8/layout/vProcess5"/>
    <dgm:cxn modelId="{DD67F4E8-6BDB-4827-A84E-FA2E24F0DE13}" type="presOf" srcId="{E52B616D-AE6B-41AD-A052-1B28EC148991}" destId="{F4C714C5-A7D6-488A-BAC9-BE0BC0C12295}" srcOrd="0" destOrd="0" presId="urn:microsoft.com/office/officeart/2005/8/layout/vProcess5"/>
    <dgm:cxn modelId="{695358C1-B836-4523-A296-59689FABE0AF}" type="presParOf" srcId="{46EB3749-CDE6-4F3C-8BDD-DB9C75195A56}" destId="{0540A2FC-27B7-4C3C-B22F-A7BA00324777}" srcOrd="0" destOrd="0" presId="urn:microsoft.com/office/officeart/2005/8/layout/vProcess5"/>
    <dgm:cxn modelId="{1FE22D7F-C3FE-4F69-8FCF-3E6FC859260A}" type="presParOf" srcId="{46EB3749-CDE6-4F3C-8BDD-DB9C75195A56}" destId="{F4C714C5-A7D6-488A-BAC9-BE0BC0C12295}" srcOrd="1" destOrd="0" presId="urn:microsoft.com/office/officeart/2005/8/layout/vProcess5"/>
    <dgm:cxn modelId="{18495122-CF05-46FC-BBB5-9B9E6B6DC0A0}" type="presParOf" srcId="{46EB3749-CDE6-4F3C-8BDD-DB9C75195A56}" destId="{773EFCF3-F8AB-4A60-B7D8-16A3BB53CF02}" srcOrd="2" destOrd="0" presId="urn:microsoft.com/office/officeart/2005/8/layout/vProcess5"/>
    <dgm:cxn modelId="{F9AED749-7796-45C0-88C6-9A797C76DD85}" type="presParOf" srcId="{46EB3749-CDE6-4F3C-8BDD-DB9C75195A56}" destId="{CF32A33E-9AEF-4EB2-BDF9-5C187FD317A6}" srcOrd="3" destOrd="0" presId="urn:microsoft.com/office/officeart/2005/8/layout/vProcess5"/>
    <dgm:cxn modelId="{67CB0832-D6FD-4958-A9D5-F74ABBC00760}" type="presParOf" srcId="{46EB3749-CDE6-4F3C-8BDD-DB9C75195A56}" destId="{0B7E0116-4FE3-4812-ACD2-11C08E6745E2}" srcOrd="4" destOrd="0" presId="urn:microsoft.com/office/officeart/2005/8/layout/vProcess5"/>
    <dgm:cxn modelId="{09B95CD7-5401-4E9A-AA34-4D1F16549F02}" type="presParOf" srcId="{46EB3749-CDE6-4F3C-8BDD-DB9C75195A56}" destId="{EA07E69D-CC10-41D4-AD19-F27A62D9B41B}" srcOrd="5" destOrd="0" presId="urn:microsoft.com/office/officeart/2005/8/layout/vProcess5"/>
    <dgm:cxn modelId="{7818F738-BB47-46A0-8FF6-FE00DB708326}" type="presParOf" srcId="{46EB3749-CDE6-4F3C-8BDD-DB9C75195A56}" destId="{99A19E6E-E66B-41F0-B580-D25122AEC51E}" srcOrd="6" destOrd="0" presId="urn:microsoft.com/office/officeart/2005/8/layout/vProcess5"/>
    <dgm:cxn modelId="{66686561-BCEA-4471-AE56-BCBB46EB2FD9}" type="presParOf" srcId="{46EB3749-CDE6-4F3C-8BDD-DB9C75195A56}" destId="{7D226A97-AA05-4554-AED8-78C2B6FCDD94}" srcOrd="7" destOrd="0" presId="urn:microsoft.com/office/officeart/2005/8/layout/vProcess5"/>
    <dgm:cxn modelId="{28AA1C22-62E4-4ED1-8726-9C010A859DDB}" type="presParOf" srcId="{46EB3749-CDE6-4F3C-8BDD-DB9C75195A56}" destId="{9AB547D9-B3BD-4FA0-85ED-79D946C25045}" srcOrd="8" destOrd="0" presId="urn:microsoft.com/office/officeart/2005/8/layout/vProcess5"/>
    <dgm:cxn modelId="{91615BC7-43C8-4E5A-BBC8-566AFE2FFE8F}" type="presParOf" srcId="{46EB3749-CDE6-4F3C-8BDD-DB9C75195A56}" destId="{B4414EF1-3894-405A-AF93-1FA47D04C3DD}" srcOrd="9" destOrd="0" presId="urn:microsoft.com/office/officeart/2005/8/layout/vProcess5"/>
    <dgm:cxn modelId="{96FB7B2F-5FFB-4F7D-B758-5FBD340CD041}" type="presParOf" srcId="{46EB3749-CDE6-4F3C-8BDD-DB9C75195A56}" destId="{BAF62C25-A93A-4764-A991-1E84647A3237}" srcOrd="10" destOrd="0" presId="urn:microsoft.com/office/officeart/2005/8/layout/vProcess5"/>
    <dgm:cxn modelId="{FE165CAD-9620-471A-9A27-5BC8A418B200}" type="presParOf" srcId="{46EB3749-CDE6-4F3C-8BDD-DB9C75195A56}" destId="{E0B8307F-06A8-43BE-8037-CABA098FD5D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9C5CB0-6B80-4D96-8938-511721223E5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5C5B75-B8EF-43F6-9EC7-86E7D8D2B07E}">
      <dgm:prSet/>
      <dgm:spPr/>
      <dgm:t>
        <a:bodyPr/>
        <a:lstStyle/>
        <a:p>
          <a:r>
            <a:rPr lang="en-US"/>
            <a:t>Processing</a:t>
          </a:r>
          <a:r>
            <a:rPr lang="en-CA"/>
            <a:t> </a:t>
          </a:r>
          <a:r>
            <a:rPr lang="en-US"/>
            <a:t>Step → Training</a:t>
          </a:r>
          <a:r>
            <a:rPr lang="en-CA"/>
            <a:t> </a:t>
          </a:r>
          <a:r>
            <a:rPr lang="en-US"/>
            <a:t>Step → Evaluation</a:t>
          </a:r>
        </a:p>
      </dgm:t>
    </dgm:pt>
    <dgm:pt modelId="{00DEE1B1-350A-460B-8157-FF28B5CAD956}" type="parTrans" cxnId="{C2E55CD3-B587-4D84-8A33-882EC98AE3A1}">
      <dgm:prSet/>
      <dgm:spPr/>
      <dgm:t>
        <a:bodyPr/>
        <a:lstStyle/>
        <a:p>
          <a:endParaRPr lang="en-US"/>
        </a:p>
      </dgm:t>
    </dgm:pt>
    <dgm:pt modelId="{FF95E69F-8EC6-4A3D-A9AF-66678FF6D9AE}" type="sibTrans" cxnId="{C2E55CD3-B587-4D84-8A33-882EC98AE3A1}">
      <dgm:prSet/>
      <dgm:spPr/>
      <dgm:t>
        <a:bodyPr/>
        <a:lstStyle/>
        <a:p>
          <a:endParaRPr lang="en-US"/>
        </a:p>
      </dgm:t>
    </dgm:pt>
    <dgm:pt modelId="{6F828A8D-4EDE-4C65-A325-8FE8C979DE7C}">
      <dgm:prSet/>
      <dgm:spPr/>
      <dgm:t>
        <a:bodyPr/>
        <a:lstStyle/>
        <a:p>
          <a:r>
            <a:rPr lang="en-US"/>
            <a:t>Condition</a:t>
          </a:r>
          <a:r>
            <a:rPr lang="en-CA"/>
            <a:t> </a:t>
          </a:r>
          <a:r>
            <a:rPr lang="en-US"/>
            <a:t>Step checks performance</a:t>
          </a:r>
        </a:p>
      </dgm:t>
    </dgm:pt>
    <dgm:pt modelId="{B33CB8B7-6B27-4CC7-9EAC-947D5F092161}" type="parTrans" cxnId="{C9529D65-9568-4375-B0A4-1261978071D5}">
      <dgm:prSet/>
      <dgm:spPr/>
      <dgm:t>
        <a:bodyPr/>
        <a:lstStyle/>
        <a:p>
          <a:endParaRPr lang="en-US"/>
        </a:p>
      </dgm:t>
    </dgm:pt>
    <dgm:pt modelId="{B475AF50-2BDA-424D-92BC-4126B5003329}" type="sibTrans" cxnId="{C9529D65-9568-4375-B0A4-1261978071D5}">
      <dgm:prSet/>
      <dgm:spPr/>
      <dgm:t>
        <a:bodyPr/>
        <a:lstStyle/>
        <a:p>
          <a:endParaRPr lang="en-US"/>
        </a:p>
      </dgm:t>
    </dgm:pt>
    <dgm:pt modelId="{56156499-80BF-4D41-A8A8-22395884CF95}">
      <dgm:prSet/>
      <dgm:spPr/>
      <dgm:t>
        <a:bodyPr/>
        <a:lstStyle/>
        <a:p>
          <a:r>
            <a:rPr lang="en-US"/>
            <a:t>If valid → deploy model</a:t>
          </a:r>
        </a:p>
      </dgm:t>
    </dgm:pt>
    <dgm:pt modelId="{376E0F90-C2BA-4E8E-90C8-696877096CAF}" type="parTrans" cxnId="{E598A010-9591-43AE-951F-C050786BA39E}">
      <dgm:prSet/>
      <dgm:spPr/>
      <dgm:t>
        <a:bodyPr/>
        <a:lstStyle/>
        <a:p>
          <a:endParaRPr lang="en-US"/>
        </a:p>
      </dgm:t>
    </dgm:pt>
    <dgm:pt modelId="{1E323203-9C92-4806-8AB6-D8D03814B6EE}" type="sibTrans" cxnId="{E598A010-9591-43AE-951F-C050786BA39E}">
      <dgm:prSet/>
      <dgm:spPr/>
      <dgm:t>
        <a:bodyPr/>
        <a:lstStyle/>
        <a:p>
          <a:endParaRPr lang="en-US"/>
        </a:p>
      </dgm:t>
    </dgm:pt>
    <dgm:pt modelId="{C91F35F3-BABD-4BF1-A1D6-E611D85AC4B4}">
      <dgm:prSet/>
      <dgm:spPr/>
      <dgm:t>
        <a:bodyPr/>
        <a:lstStyle/>
        <a:p>
          <a:r>
            <a:rPr lang="en-US"/>
            <a:t>Else → retrain or stop</a:t>
          </a:r>
        </a:p>
      </dgm:t>
    </dgm:pt>
    <dgm:pt modelId="{506677A9-4A5F-4E9D-A131-987E5C913A27}" type="parTrans" cxnId="{258E6CF6-323F-4129-A2C0-94E4C7B024CC}">
      <dgm:prSet/>
      <dgm:spPr/>
      <dgm:t>
        <a:bodyPr/>
        <a:lstStyle/>
        <a:p>
          <a:endParaRPr lang="en-US"/>
        </a:p>
      </dgm:t>
    </dgm:pt>
    <dgm:pt modelId="{65BDCBE2-5CAD-43C9-8DED-4E4C92D3268B}" type="sibTrans" cxnId="{258E6CF6-323F-4129-A2C0-94E4C7B024CC}">
      <dgm:prSet/>
      <dgm:spPr/>
      <dgm:t>
        <a:bodyPr/>
        <a:lstStyle/>
        <a:p>
          <a:endParaRPr lang="en-US"/>
        </a:p>
      </dgm:t>
    </dgm:pt>
    <dgm:pt modelId="{4683366C-BC66-4E89-9A2B-8FD340D04584}" type="pres">
      <dgm:prSet presAssocID="{249C5CB0-6B80-4D96-8938-511721223E5E}" presName="linear" presStyleCnt="0">
        <dgm:presLayoutVars>
          <dgm:animLvl val="lvl"/>
          <dgm:resizeHandles val="exact"/>
        </dgm:presLayoutVars>
      </dgm:prSet>
      <dgm:spPr/>
    </dgm:pt>
    <dgm:pt modelId="{9F40BC17-9284-4CB9-A756-75CAA4CC8F63}" type="pres">
      <dgm:prSet presAssocID="{0E5C5B75-B8EF-43F6-9EC7-86E7D8D2B07E}" presName="parentText" presStyleLbl="node1" presStyleIdx="0" presStyleCnt="4" custLinFactY="-60609" custLinFactNeighborX="0" custLinFactNeighborY="-100000">
        <dgm:presLayoutVars>
          <dgm:chMax val="0"/>
          <dgm:bulletEnabled val="1"/>
        </dgm:presLayoutVars>
      </dgm:prSet>
      <dgm:spPr/>
    </dgm:pt>
    <dgm:pt modelId="{E8598B2E-F92E-43F7-80EF-132BD8C76AC6}" type="pres">
      <dgm:prSet presAssocID="{FF95E69F-8EC6-4A3D-A9AF-66678FF6D9AE}" presName="spacer" presStyleCnt="0"/>
      <dgm:spPr/>
    </dgm:pt>
    <dgm:pt modelId="{14EBF618-A32C-4AFD-BA03-6F07AF3765B4}" type="pres">
      <dgm:prSet presAssocID="{6F828A8D-4EDE-4C65-A325-8FE8C979DE7C}" presName="parentText" presStyleLbl="node1" presStyleIdx="1" presStyleCnt="4" custLinFactY="-36297" custLinFactNeighborY="-100000">
        <dgm:presLayoutVars>
          <dgm:chMax val="0"/>
          <dgm:bulletEnabled val="1"/>
        </dgm:presLayoutVars>
      </dgm:prSet>
      <dgm:spPr/>
    </dgm:pt>
    <dgm:pt modelId="{118DDCE9-16A1-41D0-BEFF-B290E9EDE0EE}" type="pres">
      <dgm:prSet presAssocID="{B475AF50-2BDA-424D-92BC-4126B5003329}" presName="spacer" presStyleCnt="0"/>
      <dgm:spPr/>
    </dgm:pt>
    <dgm:pt modelId="{4D024A54-E61F-4EC6-A36F-C3B6673765B6}" type="pres">
      <dgm:prSet presAssocID="{56156499-80BF-4D41-A8A8-22395884CF95}" presName="parentText" presStyleLbl="node1" presStyleIdx="2" presStyleCnt="4" custLinFactY="-13208" custLinFactNeighborY="-100000">
        <dgm:presLayoutVars>
          <dgm:chMax val="0"/>
          <dgm:bulletEnabled val="1"/>
        </dgm:presLayoutVars>
      </dgm:prSet>
      <dgm:spPr/>
    </dgm:pt>
    <dgm:pt modelId="{18991CBC-43F8-429E-A2C8-48FFAC6616F0}" type="pres">
      <dgm:prSet presAssocID="{1E323203-9C92-4806-8AB6-D8D03814B6EE}" presName="spacer" presStyleCnt="0"/>
      <dgm:spPr/>
    </dgm:pt>
    <dgm:pt modelId="{CC69F1DF-F8AA-4C77-B2ED-F1CA3EDA3110}" type="pres">
      <dgm:prSet presAssocID="{C91F35F3-BABD-4BF1-A1D6-E611D85AC4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98A010-9591-43AE-951F-C050786BA39E}" srcId="{249C5CB0-6B80-4D96-8938-511721223E5E}" destId="{56156499-80BF-4D41-A8A8-22395884CF95}" srcOrd="2" destOrd="0" parTransId="{376E0F90-C2BA-4E8E-90C8-696877096CAF}" sibTransId="{1E323203-9C92-4806-8AB6-D8D03814B6EE}"/>
    <dgm:cxn modelId="{2AD6D310-4F10-4139-AF1C-5A7B49D8C204}" type="presOf" srcId="{6F828A8D-4EDE-4C65-A325-8FE8C979DE7C}" destId="{14EBF618-A32C-4AFD-BA03-6F07AF3765B4}" srcOrd="0" destOrd="0" presId="urn:microsoft.com/office/officeart/2005/8/layout/vList2"/>
    <dgm:cxn modelId="{C9529D65-9568-4375-B0A4-1261978071D5}" srcId="{249C5CB0-6B80-4D96-8938-511721223E5E}" destId="{6F828A8D-4EDE-4C65-A325-8FE8C979DE7C}" srcOrd="1" destOrd="0" parTransId="{B33CB8B7-6B27-4CC7-9EAC-947D5F092161}" sibTransId="{B475AF50-2BDA-424D-92BC-4126B5003329}"/>
    <dgm:cxn modelId="{695F9A4C-10FE-4ADE-A3E7-6E7B65C3B94E}" type="presOf" srcId="{C91F35F3-BABD-4BF1-A1D6-E611D85AC4B4}" destId="{CC69F1DF-F8AA-4C77-B2ED-F1CA3EDA3110}" srcOrd="0" destOrd="0" presId="urn:microsoft.com/office/officeart/2005/8/layout/vList2"/>
    <dgm:cxn modelId="{ADD08055-AF69-4B3B-8229-5B53E6E17BE1}" type="presOf" srcId="{249C5CB0-6B80-4D96-8938-511721223E5E}" destId="{4683366C-BC66-4E89-9A2B-8FD340D04584}" srcOrd="0" destOrd="0" presId="urn:microsoft.com/office/officeart/2005/8/layout/vList2"/>
    <dgm:cxn modelId="{824D82BD-4D11-4FD7-A0D4-D812B968AD0E}" type="presOf" srcId="{56156499-80BF-4D41-A8A8-22395884CF95}" destId="{4D024A54-E61F-4EC6-A36F-C3B6673765B6}" srcOrd="0" destOrd="0" presId="urn:microsoft.com/office/officeart/2005/8/layout/vList2"/>
    <dgm:cxn modelId="{D88CBECF-8AFE-4333-B6CB-B6840CDCCDB4}" type="presOf" srcId="{0E5C5B75-B8EF-43F6-9EC7-86E7D8D2B07E}" destId="{9F40BC17-9284-4CB9-A756-75CAA4CC8F63}" srcOrd="0" destOrd="0" presId="urn:microsoft.com/office/officeart/2005/8/layout/vList2"/>
    <dgm:cxn modelId="{C2E55CD3-B587-4D84-8A33-882EC98AE3A1}" srcId="{249C5CB0-6B80-4D96-8938-511721223E5E}" destId="{0E5C5B75-B8EF-43F6-9EC7-86E7D8D2B07E}" srcOrd="0" destOrd="0" parTransId="{00DEE1B1-350A-460B-8157-FF28B5CAD956}" sibTransId="{FF95E69F-8EC6-4A3D-A9AF-66678FF6D9AE}"/>
    <dgm:cxn modelId="{258E6CF6-323F-4129-A2C0-94E4C7B024CC}" srcId="{249C5CB0-6B80-4D96-8938-511721223E5E}" destId="{C91F35F3-BABD-4BF1-A1D6-E611D85AC4B4}" srcOrd="3" destOrd="0" parTransId="{506677A9-4A5F-4E9D-A131-987E5C913A27}" sibTransId="{65BDCBE2-5CAD-43C9-8DED-4E4C92D3268B}"/>
    <dgm:cxn modelId="{177F7C6F-5F5E-4469-9403-1E4804770E30}" type="presParOf" srcId="{4683366C-BC66-4E89-9A2B-8FD340D04584}" destId="{9F40BC17-9284-4CB9-A756-75CAA4CC8F63}" srcOrd="0" destOrd="0" presId="urn:microsoft.com/office/officeart/2005/8/layout/vList2"/>
    <dgm:cxn modelId="{797F92A2-3E00-40F9-8F98-451C2B2957F3}" type="presParOf" srcId="{4683366C-BC66-4E89-9A2B-8FD340D04584}" destId="{E8598B2E-F92E-43F7-80EF-132BD8C76AC6}" srcOrd="1" destOrd="0" presId="urn:microsoft.com/office/officeart/2005/8/layout/vList2"/>
    <dgm:cxn modelId="{EA856294-55E2-49C2-A795-107FA3101304}" type="presParOf" srcId="{4683366C-BC66-4E89-9A2B-8FD340D04584}" destId="{14EBF618-A32C-4AFD-BA03-6F07AF3765B4}" srcOrd="2" destOrd="0" presId="urn:microsoft.com/office/officeart/2005/8/layout/vList2"/>
    <dgm:cxn modelId="{29DD8190-995B-4539-9CBF-07FDA44B164E}" type="presParOf" srcId="{4683366C-BC66-4E89-9A2B-8FD340D04584}" destId="{118DDCE9-16A1-41D0-BEFF-B290E9EDE0EE}" srcOrd="3" destOrd="0" presId="urn:microsoft.com/office/officeart/2005/8/layout/vList2"/>
    <dgm:cxn modelId="{22716C45-B843-4566-8F01-356D02DF1A93}" type="presParOf" srcId="{4683366C-BC66-4E89-9A2B-8FD340D04584}" destId="{4D024A54-E61F-4EC6-A36F-C3B6673765B6}" srcOrd="4" destOrd="0" presId="urn:microsoft.com/office/officeart/2005/8/layout/vList2"/>
    <dgm:cxn modelId="{5A190DBE-E5EF-4878-93A1-D853665877EC}" type="presParOf" srcId="{4683366C-BC66-4E89-9A2B-8FD340D04584}" destId="{18991CBC-43F8-429E-A2C8-48FFAC6616F0}" srcOrd="5" destOrd="0" presId="urn:microsoft.com/office/officeart/2005/8/layout/vList2"/>
    <dgm:cxn modelId="{D0090C90-7899-4146-AB86-87EEE1AB5008}" type="presParOf" srcId="{4683366C-BC66-4E89-9A2B-8FD340D04584}" destId="{CC69F1DF-F8AA-4C77-B2ED-F1CA3EDA31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714C5-A7D6-488A-BAC9-BE0BC0C12295}">
      <dsp:nvSpPr>
        <dsp:cNvPr id="0" name=""/>
        <dsp:cNvSpPr/>
      </dsp:nvSpPr>
      <dsp:spPr>
        <a:xfrm>
          <a:off x="0" y="0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End-to-end ML lifecycle on AWS</a:t>
          </a:r>
        </a:p>
      </dsp:txBody>
      <dsp:txXfrm>
        <a:off x="24396" y="24396"/>
        <a:ext cx="5065851" cy="784145"/>
      </dsp:txXfrm>
    </dsp:sp>
    <dsp:sp modelId="{773EFCF3-F8AB-4A60-B7D8-16A3BB53CF02}">
      <dsp:nvSpPr>
        <dsp:cNvPr id="0" name=""/>
        <dsp:cNvSpPr/>
      </dsp:nvSpPr>
      <dsp:spPr>
        <a:xfrm>
          <a:off x="505434" y="984380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→ Processing → Training → Deployment → Monitoring</a:t>
          </a:r>
        </a:p>
      </dsp:txBody>
      <dsp:txXfrm>
        <a:off x="529830" y="1008776"/>
        <a:ext cx="4939403" cy="784145"/>
      </dsp:txXfrm>
    </dsp:sp>
    <dsp:sp modelId="{CF32A33E-9AEF-4EB2-BDF9-5C187FD317A6}">
      <dsp:nvSpPr>
        <dsp:cNvPr id="0" name=""/>
        <dsp:cNvSpPr/>
      </dsp:nvSpPr>
      <dsp:spPr>
        <a:xfrm>
          <a:off x="1003325" y="1968761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Automated using SageMaker Pipelines</a:t>
          </a:r>
        </a:p>
      </dsp:txBody>
      <dsp:txXfrm>
        <a:off x="1027721" y="1993157"/>
        <a:ext cx="4946947" cy="784145"/>
      </dsp:txXfrm>
    </dsp:sp>
    <dsp:sp modelId="{0B7E0116-4FE3-4812-ACD2-11C08E6745E2}">
      <dsp:nvSpPr>
        <dsp:cNvPr id="0" name=""/>
        <dsp:cNvSpPr/>
      </dsp:nvSpPr>
      <dsp:spPr>
        <a:xfrm>
          <a:off x="1508759" y="2953142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Integration with S3, Lambda, CloudWatch</a:t>
          </a:r>
        </a:p>
      </dsp:txBody>
      <dsp:txXfrm>
        <a:off x="1533155" y="2977538"/>
        <a:ext cx="4939403" cy="784145"/>
      </dsp:txXfrm>
    </dsp:sp>
    <dsp:sp modelId="{EA07E69D-CC10-41D4-AD19-F27A62D9B41B}">
      <dsp:nvSpPr>
        <dsp:cNvPr id="0" name=""/>
        <dsp:cNvSpPr/>
      </dsp:nvSpPr>
      <dsp:spPr>
        <a:xfrm>
          <a:off x="5493630" y="637954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15447" y="637954"/>
        <a:ext cx="297775" cy="407410"/>
      </dsp:txXfrm>
    </dsp:sp>
    <dsp:sp modelId="{99A19E6E-E66B-41F0-B580-D25122AEC51E}">
      <dsp:nvSpPr>
        <dsp:cNvPr id="0" name=""/>
        <dsp:cNvSpPr/>
      </dsp:nvSpPr>
      <dsp:spPr>
        <a:xfrm>
          <a:off x="5999065" y="1622335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23599"/>
            <a:satOff val="-11908"/>
            <a:lumOff val="-12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3599"/>
              <a:satOff val="-11908"/>
              <a:lumOff val="-1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20882" y="1622335"/>
        <a:ext cx="297775" cy="407410"/>
      </dsp:txXfrm>
    </dsp:sp>
    <dsp:sp modelId="{7D226A97-AA05-4554-AED8-78C2B6FCDD94}">
      <dsp:nvSpPr>
        <dsp:cNvPr id="0" name=""/>
        <dsp:cNvSpPr/>
      </dsp:nvSpPr>
      <dsp:spPr>
        <a:xfrm>
          <a:off x="6496955" y="2606716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18772" y="2606716"/>
        <a:ext cx="297775" cy="407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0BC17-9284-4CB9-A756-75CAA4CC8F63}">
      <dsp:nvSpPr>
        <dsp:cNvPr id="0" name=""/>
        <dsp:cNvSpPr/>
      </dsp:nvSpPr>
      <dsp:spPr>
        <a:xfrm>
          <a:off x="0" y="0"/>
          <a:ext cx="754380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Processing</a:t>
          </a:r>
          <a:r>
            <a:rPr lang="en-CA" sz="3000" kern="1200"/>
            <a:t> </a:t>
          </a:r>
          <a:r>
            <a:rPr lang="en-US" sz="3000" kern="1200"/>
            <a:t>Step → Training</a:t>
          </a:r>
          <a:r>
            <a:rPr lang="en-CA" sz="3000" kern="1200"/>
            <a:t> </a:t>
          </a:r>
          <a:r>
            <a:rPr lang="en-US" sz="3000" kern="1200"/>
            <a:t>Step → Evaluation</a:t>
          </a:r>
        </a:p>
      </dsp:txBody>
      <dsp:txXfrm>
        <a:off x="35125" y="35125"/>
        <a:ext cx="7473551" cy="649299"/>
      </dsp:txXfrm>
    </dsp:sp>
    <dsp:sp modelId="{14EBF618-A32C-4AFD-BA03-6F07AF3765B4}">
      <dsp:nvSpPr>
        <dsp:cNvPr id="0" name=""/>
        <dsp:cNvSpPr/>
      </dsp:nvSpPr>
      <dsp:spPr>
        <a:xfrm>
          <a:off x="0" y="901354"/>
          <a:ext cx="7543801" cy="719549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Condition</a:t>
          </a:r>
          <a:r>
            <a:rPr lang="en-CA" sz="3000" kern="1200"/>
            <a:t> </a:t>
          </a:r>
          <a:r>
            <a:rPr lang="en-US" sz="3000" kern="1200"/>
            <a:t>Step checks performance</a:t>
          </a:r>
        </a:p>
      </dsp:txBody>
      <dsp:txXfrm>
        <a:off x="35125" y="936479"/>
        <a:ext cx="7473551" cy="649299"/>
      </dsp:txXfrm>
    </dsp:sp>
    <dsp:sp modelId="{4D024A54-E61F-4EC6-A36F-C3B6673765B6}">
      <dsp:nvSpPr>
        <dsp:cNvPr id="0" name=""/>
        <dsp:cNvSpPr/>
      </dsp:nvSpPr>
      <dsp:spPr>
        <a:xfrm>
          <a:off x="0" y="1873441"/>
          <a:ext cx="7543801" cy="719549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If valid → deploy model</a:t>
          </a:r>
        </a:p>
      </dsp:txBody>
      <dsp:txXfrm>
        <a:off x="35125" y="1908566"/>
        <a:ext cx="7473551" cy="649299"/>
      </dsp:txXfrm>
    </dsp:sp>
    <dsp:sp modelId="{CC69F1DF-F8AA-4C77-B2ED-F1CA3EDA3110}">
      <dsp:nvSpPr>
        <dsp:cNvPr id="0" name=""/>
        <dsp:cNvSpPr/>
      </dsp:nvSpPr>
      <dsp:spPr>
        <a:xfrm>
          <a:off x="0" y="2860830"/>
          <a:ext cx="7543801" cy="719549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Else → retrain or stop</a:t>
          </a:r>
        </a:p>
      </dsp:txBody>
      <dsp:txXfrm>
        <a:off x="35125" y="2895955"/>
        <a:ext cx="7473551" cy="649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03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73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2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3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0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7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6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7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9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5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videos/riverview/relatedvideo?q=&amp;mobile=0&amp;mid=F514747E0B8D2DB621FDF514747E0B8D2DB621FD&amp;churl=https%3a%2f%2fwww.youtube.com%2fchannel%2fUCH6gDteHtH4hg3o2343iObA&amp;FORM=M365C" TargetMode="External"/><Relationship Id="rId7" Type="http://schemas.openxmlformats.org/officeDocument/2006/relationships/hyperlink" Target="https://www.bing.com/videos/riverview/relatedvideo?q=&amp;mobile=0&amp;mid=CB3A93E1D6B23003DB8FCB3A93E1D6B23003DB8F&amp;churl=https%3a%2f%2fwww.youtube.com%2fchannel%2fUCeFXgm7rc9WzmRF1UZ7B4PA&amp;FORM=M365C" TargetMode="External"/><Relationship Id="rId2" Type="http://schemas.openxmlformats.org/officeDocument/2006/relationships/hyperlink" Target="https://www.bing.com/videos/riverview/relatedvideo?q=&amp;mobile=0&amp;mid=64BF489299683D78872164BF489299683D788721&amp;churl=https%3a%2f%2fwww.youtube.com%2fchannel%2fUCNPJLwVAzoRz87PpPJtPDlw&amp;FORM=M365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ng.com/videos/riverview/relatedvideo?q=&amp;mobile=0&amp;mid=A9A547507B252CF506D0A9A547507B252CF506D0&amp;churl=https%3a%2f%2fwww.youtube.com%2fchannel%2fUCNU_lfiiWBdtULKOw6X0Dig&amp;FORM=M365C" TargetMode="External"/><Relationship Id="rId5" Type="http://schemas.openxmlformats.org/officeDocument/2006/relationships/hyperlink" Target="https://www.bing.com/videos/riverview/relatedvideo?q=&amp;mobile=0&amp;mid=04EBCD75A5C8658B2B8904EBCD75A5C8658B2B89&amp;churl=https%3a%2f%2fwww.youtube.com%2fchannel%2fUC39o9JSaFngAW4pPQ_vi1ng&amp;FORM=M365C" TargetMode="External"/><Relationship Id="rId4" Type="http://schemas.openxmlformats.org/officeDocument/2006/relationships/hyperlink" Target="https://www.bing.com/videos/riverview/relatedvideo?q=&amp;mobile=0&amp;mid=5DC0D643692E3894591F5DC0D643692E3894591F&amp;churl=https%3a%2f%2fwww.youtube.com%2fchannel%2fUCJDWj0B_-Rzi9tdemSzl-bw&amp;FORM=M365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F98CA7-88DA-04FD-CCEF-B3B809095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1714" y="643467"/>
            <a:ext cx="5379365" cy="5054008"/>
          </a:xfrm>
        </p:spPr>
        <p:txBody>
          <a:bodyPr anchor="ctr">
            <a:normAutofit/>
          </a:bodyPr>
          <a:lstStyle/>
          <a:p>
            <a:r>
              <a:rPr lang="en-CA" sz="5700" dirty="0">
                <a:solidFill>
                  <a:schemeClr val="tx2"/>
                </a:solidFill>
              </a:rPr>
              <a:t>AWS SAGEMAKER to ML Deployment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20D19D-526F-8F40-9A4C-A05AF1063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474" y="643467"/>
            <a:ext cx="2483892" cy="5054008"/>
          </a:xfrm>
        </p:spPr>
        <p:txBody>
          <a:bodyPr anchor="ctr">
            <a:normAutofit/>
          </a:bodyPr>
          <a:lstStyle/>
          <a:p>
            <a:pPr algn="r"/>
            <a:endParaRPr lang="en-CA">
              <a:solidFill>
                <a:schemeClr val="tx1"/>
              </a:solidFill>
            </a:endParaRP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1539" y="1570271"/>
            <a:ext cx="0" cy="3200400"/>
          </a:xfrm>
          <a:prstGeom prst="line">
            <a:avLst/>
          </a:prstGeom>
          <a:ln w="31750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3">
            <a:extLst>
              <a:ext uri="{FF2B5EF4-FFF2-40B4-BE49-F238E27FC236}">
                <a16:creationId xmlns:a16="http://schemas.microsoft.com/office/drawing/2014/main" id="{A05250E5-90D0-4E41-B9BD-FF661DE54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336792"/>
            <a:ext cx="9141619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6784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CA" dirty="0" err="1"/>
              <a:t>SageMaker</a:t>
            </a:r>
            <a:r>
              <a:rPr lang="en-CA" dirty="0"/>
              <a:t> Workflow Overview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6522C0C-151D-4AF6-EBE7-127793DD0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90784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Data Ingestion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574301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Upload data to Amazon S3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rgbClr val="00B050"/>
                </a:solidFill>
              </a:rPr>
              <a:t>Example: transaction.csv for fraud detection</a:t>
            </a:r>
            <a:endParaRPr lang="en-CA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  <a:defRPr sz="2600"/>
            </a:pPr>
            <a:endParaRPr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chemeClr val="accent2"/>
                </a:solidFill>
              </a:rPr>
              <a:t>Processing</a:t>
            </a:r>
            <a:r>
              <a:rPr lang="en-CA" dirty="0">
                <a:solidFill>
                  <a:schemeClr val="accent2"/>
                </a:solidFill>
              </a:rPr>
              <a:t> </a:t>
            </a:r>
            <a:r>
              <a:rPr dirty="0">
                <a:solidFill>
                  <a:schemeClr val="accent2"/>
                </a:solidFill>
              </a:rPr>
              <a:t>Step: </a:t>
            </a:r>
            <a:r>
              <a:rPr dirty="0"/>
              <a:t>clean data, handle missing values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Split into training and testing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in SageMaker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442893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Use algorithms: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PyTorch</a:t>
            </a:r>
            <a:r>
              <a:rPr dirty="0"/>
              <a:t>, TensorFlow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Training</a:t>
            </a:r>
            <a:r>
              <a:rPr lang="en-CA" dirty="0"/>
              <a:t> </a:t>
            </a:r>
            <a:r>
              <a:rPr dirty="0"/>
              <a:t>Step creates and manages compute resources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Outputs trained model artifacts to S3</a:t>
            </a:r>
            <a:endParaRPr lang="en-CA" dirty="0"/>
          </a:p>
          <a:p>
            <a:pPr>
              <a:buFont typeface="Wingdings" panose="05000000000000000000" pitchFamily="2" charset="2"/>
              <a:buChar char="Ø"/>
              <a:defRPr sz="2600"/>
            </a:pPr>
            <a:endParaRPr dirty="0"/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chemeClr val="accent1"/>
                </a:solidFill>
              </a:rPr>
              <a:t>Example: Train fraud detection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452224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Evaluate using metrics: accuracy, precision, recall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Fraud detection focuses on recall &amp; AUC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Compare models and select best one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Used to decide deployment 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237619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Deploy model as </a:t>
            </a:r>
            <a:r>
              <a:rPr dirty="0" err="1"/>
              <a:t>SageMaker</a:t>
            </a:r>
            <a:r>
              <a:rPr dirty="0"/>
              <a:t> Endpoint (API)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Real-time inference via HTTP requests</a:t>
            </a:r>
            <a:endParaRPr lang="en-CA" dirty="0"/>
          </a:p>
          <a:p>
            <a:pPr>
              <a:buFont typeface="Wingdings" panose="05000000000000000000" pitchFamily="2" charset="2"/>
              <a:buChar char="Ø"/>
              <a:defRPr sz="2600"/>
            </a:pPr>
            <a:endParaRPr dirty="0"/>
          </a:p>
          <a:p>
            <a:pPr marL="0" indent="0">
              <a:buNone/>
              <a:defRPr sz="2600"/>
            </a:pPr>
            <a:r>
              <a:rPr dirty="0">
                <a:solidFill>
                  <a:srgbClr val="00B050"/>
                </a:solidFill>
              </a:rPr>
              <a:t>Example</a:t>
            </a:r>
            <a:r>
              <a:rPr lang="en-CA" dirty="0">
                <a:solidFill>
                  <a:srgbClr val="00B05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rgbClr val="00B050"/>
                </a:solidFill>
              </a:rPr>
              <a:t> input: transaction data</a:t>
            </a:r>
            <a:endParaRPr lang="en-CA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  <a:defRPr sz="2600"/>
            </a:pPr>
            <a:endParaRPr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rgbClr val="00B050"/>
                </a:solidFill>
              </a:rPr>
              <a:t>Output: fraud probability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546309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Track performance using CloudWatch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Detect data drift and performance issues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Log predictions and errors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Trigger retraining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SageMaker</a:t>
            </a:r>
            <a:r>
              <a:rPr sz="4400" dirty="0"/>
              <a:t> Pipeline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583631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Pipeline = sequence of ML steps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Automates preprocessing, training, deployment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Supports conditional logic (if accuracy &gt; threshold)</a:t>
            </a:r>
          </a:p>
          <a:p>
            <a:pPr>
              <a:buFont typeface="Wingdings" panose="05000000000000000000" pitchFamily="2" charset="2"/>
              <a:buChar char="Ø"/>
              <a:defRPr sz="2600"/>
            </a:pPr>
            <a:r>
              <a:rPr dirty="0"/>
              <a:t>Improves reproducibility and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Example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38B5E-9995-32E3-0F7E-03E5E26FA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502481"/>
              </p:ext>
            </p:extLst>
          </p:nvPr>
        </p:nvGraphicFramePr>
        <p:xfrm>
          <a:off x="822960" y="2527648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Detection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237620"/>
            <a:ext cx="7543801" cy="40233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chemeClr val="accent2"/>
                </a:solidFill>
              </a:rPr>
              <a:t>Input: </a:t>
            </a:r>
            <a:r>
              <a:rPr dirty="0"/>
              <a:t>transaction data (amount, location, user)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Model predicts fraud vs non-fraud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Deployed as real-time API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>
                <a:solidFill>
                  <a:schemeClr val="accent2"/>
                </a:solidFill>
              </a:rPr>
              <a:t>Business use: </a:t>
            </a:r>
            <a:r>
              <a:rPr dirty="0"/>
              <a:t>prevent financial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Upload new data to S3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Lambda triggers pipeline automatically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Pipeline retrains and redeploys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600"/>
            </a:pPr>
            <a:r>
              <a:rPr dirty="0"/>
              <a:t>Fully automated </a:t>
            </a:r>
            <a:r>
              <a:rPr dirty="0" err="1"/>
              <a:t>MLOps</a:t>
            </a:r>
            <a:r>
              <a:rPr dirty="0"/>
              <a:t>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08EC-7599-061E-71DF-5A0423871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Good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30E7-7A82-FD8E-D60E-5AE9A9E80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828E1-5F42-1145-6F66-263CE4F5B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51" y="2199676"/>
            <a:ext cx="6661498" cy="35779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 algn="r" defTabSz="685800" fontAlgn="ctr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rgbClr val="FFFFFF"/>
                </a:solidFill>
                <a:latin typeface="Roboto" panose="02000000000000000000" pitchFamily="2" charset="0"/>
                <a:hlinkClick r:id="rId2"/>
              </a:rPr>
              <a:t>56:27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2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2"/>
              </a:rPr>
              <a:t>How To: Use AWS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2"/>
              </a:rPr>
              <a:t>SageMaker</a:t>
            </a: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2"/>
              </a:rPr>
              <a:t> for End-to-End ML — Setup, Training, Deployment, and Bias Detection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2"/>
            </a:endParaRPr>
          </a:p>
          <a:p>
            <a:pPr marL="171450" indent="-171450" algn="r" defTabSz="685800" fontAlgn="ctr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rgbClr val="FFFFFF"/>
                </a:solidFill>
                <a:latin typeface="Roboto" panose="02000000000000000000" pitchFamily="2" charset="0"/>
                <a:hlinkClick r:id="rId3"/>
              </a:rPr>
              <a:t>44:23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3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3"/>
              </a:rPr>
              <a:t>From Laptop to Cloud: A Complete End-to-End Data Science Project with AWS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3"/>
              </a:rPr>
              <a:t>SageMaker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3"/>
            </a:endParaRPr>
          </a:p>
          <a:p>
            <a:pPr defTabSz="685800"/>
            <a:r>
              <a:rPr lang="en-US" altLang="en-US" sz="1400" dirty="0">
                <a:solidFill>
                  <a:srgbClr val="71777D"/>
                </a:solidFill>
                <a:latin typeface="Roboto" panose="02000000000000000000" pitchFamily="2" charset="0"/>
              </a:rPr>
              <a:t>  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4"/>
            </a:endParaRPr>
          </a:p>
          <a:p>
            <a:pPr marL="171450" indent="-171450" algn="r" defTabSz="685800" fontAlgn="ctr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rgbClr val="FFFFFF"/>
                </a:solidFill>
                <a:latin typeface="Roboto" panose="02000000000000000000" pitchFamily="2" charset="0"/>
                <a:hlinkClick r:id="rId4"/>
              </a:rPr>
              <a:t>22:44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4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4"/>
              </a:rPr>
              <a:t>End-to-End Machine Learning Project Using AWS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4"/>
              </a:rPr>
              <a:t>SageMaker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4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5"/>
            </a:endParaRPr>
          </a:p>
          <a:p>
            <a:pPr marL="171450" indent="-171450" algn="r" defTabSz="685800" fontAlgn="ctr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rgbClr val="FFFFFF"/>
                </a:solidFill>
                <a:latin typeface="Roboto" panose="02000000000000000000" pitchFamily="2" charset="0"/>
                <a:hlinkClick r:id="rId6"/>
              </a:rPr>
              <a:t>40:25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6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6"/>
              </a:rPr>
              <a:t>End To End Machine Learning Project Implementation Using AWS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6"/>
              </a:rPr>
              <a:t>Sagemaker</a:t>
            </a:r>
            <a:endParaRPr lang="en-US" altLang="en-US" sz="1400" b="1" dirty="0">
              <a:solidFill>
                <a:srgbClr val="242424"/>
              </a:solidFill>
              <a:latin typeface="Roboto" panose="02000000000000000000" pitchFamily="2" charset="0"/>
              <a:hlinkClick r:id="rId6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6"/>
            </a:endParaRPr>
          </a:p>
          <a:p>
            <a:pPr marL="171450" indent="-171450" algn="r" defTabSz="685800" fontAlgn="ctr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rgbClr val="FFFFFF"/>
                </a:solidFill>
                <a:latin typeface="Roboto" panose="02000000000000000000" pitchFamily="2" charset="0"/>
                <a:hlinkClick r:id="rId7"/>
              </a:rPr>
              <a:t>3:04:11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7"/>
            </a:endParaRP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End-to-End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MLOps</a:t>
            </a: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 Pipeline with AWS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SageMaker</a:t>
            </a: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, GitHub Actions,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MLflow</a:t>
            </a: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 &amp; </a:t>
            </a:r>
            <a:r>
              <a:rPr lang="en-US" altLang="en-US" sz="1400" b="1" dirty="0" err="1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FastAPI</a:t>
            </a:r>
            <a:r>
              <a:rPr lang="en-US" altLang="en-US" sz="1400" b="1" dirty="0">
                <a:solidFill>
                  <a:srgbClr val="242424"/>
                </a:solidFill>
                <a:latin typeface="Roboto" panose="02000000000000000000" pitchFamily="2" charset="0"/>
                <a:hlinkClick r:id="rId7"/>
              </a:rPr>
              <a:t> | Resume Project 2026</a:t>
            </a:r>
            <a:endParaRPr lang="en-US" altLang="en-US" sz="1400" dirty="0">
              <a:solidFill>
                <a:srgbClr val="71777D"/>
              </a:solidFill>
              <a:latin typeface="Roboto" panose="02000000000000000000" pitchFamily="2" charset="0"/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val="39323278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804</TotalTime>
  <Words>349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Wingdings</vt:lpstr>
      <vt:lpstr>Retrospect</vt:lpstr>
      <vt:lpstr>AWS SAGEMAKER to ML Deployment</vt:lpstr>
      <vt:lpstr>SageMaker Workflow Overview</vt:lpstr>
      <vt:lpstr>Data Ingestion &amp; Preprocessing</vt:lpstr>
      <vt:lpstr>Model Training in SageMaker</vt:lpstr>
      <vt:lpstr>Model Evaluation</vt:lpstr>
      <vt:lpstr>Model Deployment</vt:lpstr>
      <vt:lpstr>Monitoring &amp; Maintenance</vt:lpstr>
      <vt:lpstr>SageMaker Pipeline Automation</vt:lpstr>
      <vt:lpstr>Pipeline Example</vt:lpstr>
      <vt:lpstr>Fraud Detection Use Case</vt:lpstr>
      <vt:lpstr>Event-Driven Workflow</vt:lpstr>
      <vt:lpstr>Good Videos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SageMaker Workflow Overview</dc:title>
  <dc:subject/>
  <dc:creator>farnaz derakhshan</dc:creator>
  <cp:keywords/>
  <dc:description>generated using python-pptx</dc:description>
  <cp:lastModifiedBy>farnaz derakhshan</cp:lastModifiedBy>
  <cp:revision>7</cp:revision>
  <dcterms:created xsi:type="dcterms:W3CDTF">2013-01-27T09:14:16Z</dcterms:created>
  <dcterms:modified xsi:type="dcterms:W3CDTF">2026-05-26T10:53:32Z</dcterms:modified>
  <cp:category/>
</cp:coreProperties>
</file>